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ект" id="{6e7bd0df-ca54-d38d-e600-70c1133b34b3}">
          <p14:sldIdLst>
            <p14:sldId id="256"/>
            <p14:sldId id="257"/>
            <p14:sldId id="258"/>
            <p14:sldId id="259"/>
          </p14:sldIdLst>
        </p14:section>
        <p14:section name="Продукт" id="{17da2006-f714-9197-53c5-b3138c02333c}">
          <p14:sldIdLst>
            <p14:sldId id="260"/>
            <p14:sldId id="261"/>
            <p14:sldId id="262"/>
          </p14:sldIdLst>
        </p14:section>
        <p14:section name="Рынок" id="{4b9c001c-6e15-2917-5c62-6e210d9179d8}">
          <p14:sldIdLst>
            <p14:sldId id="263"/>
            <p14:sldId id="264"/>
            <p14:sldId id="265"/>
          </p14:sldIdLst>
        </p14:section>
        <p14:section name="План" id="{4942490b-9cde-e7ec-94bf-d096b2811c5e}">
          <p14:sldIdLst>
            <p14:sldId id="266"/>
            <p14:sldId id="267"/>
            <p14:sldId id="268"/>
            <p14:sldId id="269"/>
          </p14:sldIdLst>
        </p14:section>
        <p14:section name="Команда и запрос" id="{dccc4da4-979e-8349-6228-66dec6528018}">
          <p14:sldIdLst>
            <p14:sldId id="270"/>
            <p14:sldId id="271"/>
            <p14:sldId id="272"/>
          </p14:sldIdLst>
        </p14:section>
        <p14:section name="Приложение" id="{b798cfba-7c42-4d4e-5971-b9d40054f6ad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команда ИОН: «Инновации, образование, наука». Это онлайн-платформа, где учёные, преподаватели и инноваторы ищут работу и места в аспирантуре, а вузы, НИИ и R&amp;D-компании находят кандидатов. Первая версия уже разработана; в инкубаторе мы хотим превратить её в бизнес.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двусторонняя. Учёному негде показать свой научный багаж: степень, публикации, гранты не помещаются в обычное резюме, а конкурсы разбросаны по сотням сайтов. Организации, наоборот, не могут найти человека по научной специальности и публикациям, а отклики и рекомендации ходят по почте.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Масштаб: 339 тысяч исследователей, 217 тысяч преподавателей вузов, 126 тысяч аспирантов, больше 4 тысяч организаций, которые ведут исследования. Замещение научных должностей идёт через конкурсы: по нашей оценке, только на государственный портал выкладывается около 15 тысяч конкурсов в год. Почти половина исследователей моложе 40 лет: это аудитория, которая ищет работу онлайн.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 решение — платформа для всего «треугольника знаний». Наука: научные должности и конкурсы. Образование: преподаватели, аспирантура, магистратура, стажировки. Инновации: R&amp;D-компании и технопарки, проектная работа и трансфер технологий. В центре — профиль учёного, вакансии всех видов и переписка.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работает. Соискатель один раз заполняет научный профиль: публикации подтягиваются по DOI вместе с квартилем журнала. Дальше поиск, подборка с объяснением, отклик с рекомендательными письмами и переписка. Организация заводит подразделения и роли, публикует вакансии, разбирает отклики и сама ищет учёных в каталоге. Видимость профиля всегда выбирает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макеты, а работающий сайт. Слева поиск вакансий с фильтрами, в центре каталог учёных для организаций: поиск по степени, h-index и статьям в первом-втором квартиле. Справа разбор отклика: письмо, файлы, рекомендации и решение в одно нажатие.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— сайт говорит на языке науки. Публикацию достаточно указать по DOI: название, авторы, журнал и квартиль подставятся сами. Подборка «Подходящие вам» объясняет, почему вакансия в списке. Есть напоминания о сроках конкурсов, резюме в PDF и полноценная работа с телефона.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Конкуренты. Общие сайты, hh.ru и другие, умеют переписку и приватность, но не знают степеней, специальностей ВАК и публикаций. Государственный портал обязателен для научных конкурсов, но это доска объявлений о конкурсах без преподавателей, аспирантуры и частных компаний. Сайты вузов и телеграм-каналы — каждый сам по себе. ИОН соединяет это в одном месте и не спорит с порталом, а дополняет 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считаем снизу вверх и честно помечаем гипотезы. Платят организации. Их около пяти тысяч; при цене 120 тысяч рублей в год это около 0,6 миллиарда рублей. Начинаем с вузов — это около 150 миллионов. Реалистичная цель на три года — 40 организаций, около 5 миллионов рублей в год. Цену проверим в инкубаторе.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Модель: платят организации, для соискателей сервис без оплаты — так мы быстрее наберём аудиторию. Четыре гипотезы: подписка на кабинет найма, доступ к каталогу учёных, продвижение программ аспирантуры и магистратуры и подбор исполнителей под проекты R&amp;D-компаний. Какая сработает первой, хотим проверить с трекером инкубатора.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Техническая реализуемость — наша сильная сторона. За 40 этапов сделана вся основная функциональность, сервер покрыт тестами на 98 процентов, проведён аудит безопасности. Архитектура рассчитана на всю науку России. До запуска осталось выбрать хостинг в России и включить модерацию организаций.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Выход на рынок начинаем с Казани, где у команды есть связи: КГМУ, движение молодых учёных, научные общества. Сначала 20 интервью, затем пилот с 3–5 организациями, параллельно набираем профили учёных, и к концу 2027 года — первые платящие организации.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на год. Ноябрь — инкубатор. Декабрь — боевой запуск и модерация организаций. Первый квартал — пилот и заявка на «Студенческий стартап». Дальше — профили учёных, проверка цены, первые подписки и к концу 2027 года десять платящих организаций и заявка на «Старт-1».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Финансы. Первый год нам нужен примерно один миллион рублей: хостинг, выплаты команде, интервью и пилоты, маркетинг и юридические документы. Источники — резидентство ИТ-парка, грант «Студенческий стартап», затем «Старт-1» и собственная выручка от подписок.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Команда. Марат Александрович — доктор медицинских наук, профессор, заведующий кафедрой и директор Института нейронаук КГМУ; он сам нанимает людей в науку и знает, как устроены вузы. Азамат — разработчик, который построил всю платформу. Нам не хватает человека на продажи и маркетинг, его мы надеемся найти в экосистеме ИТ-парка.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запрос к инкубатору: трекинг, чтобы найти модель заработка, выход на вузы и компании Татарстана, помощь с бюджетом и грантами, маркетинг и юридическое сопровождение. Через полгода покажем результаты интервью, пилоты, первые 300 профилей и подтверждённую модель оплаты.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ИОН помогает учёным, преподавателям и инноваторам найти своё место, а организациям — своих людей. Спасибо,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ответов на вопросы экспертов о рисках.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технических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источников всех цифр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ciBox/deliverables/pitch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1944" y="384048"/>
            <a:ext cx="841111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ИОН · Инновации, образование, наука     Отбор в Бизнес-инкубатор ИТ-парка, осень 2026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И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"/>
            <a:ext cx="2453241" cy="96012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1901952"/>
            <a:ext cx="382219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9019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В БИЗНЕС-ИНКУБАТОР ИТ-ПАРКА · ОСЕНЬ 2026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04288"/>
            <a:ext cx="667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Платформа для карьеры в науке, образовании и инновациях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758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Вакансии вузов, НИИ и R&amp;D-компаний, научный профиль вместо резюме и переписка соискателя с работодателем в одном месте</a:t>
            </a:r>
            <a:endParaRPr lang="en-US" sz="1600" dirty="0"/>
          </a:p>
        </p:txBody>
      </p:sp>
      <p:pic>
        <p:nvPicPr>
          <p:cNvPr id="7" name="Image 1" descr="/home/user/SciBox/deliverables/pitch/assets/marat-sq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800600"/>
            <a:ext cx="713232" cy="713232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800600"/>
            <a:ext cx="713232" cy="713232"/>
          </a:xfrm>
          <a:prstGeom prst="ellipse">
            <a:avLst/>
          </a:prstGeom>
          <a:ln w="15875">
            <a:solidFill>
              <a:srgbClr val="E4E1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417320" y="4873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Марат Мухамедьяров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д.м.н., профессор, Казанский ГМУ</a:t>
            </a:r>
            <a:endParaRPr lang="en-US" sz="1200" dirty="0"/>
          </a:p>
        </p:txBody>
      </p:sp>
      <p:pic>
        <p:nvPicPr>
          <p:cNvPr id="11" name="Image 2" descr="/home/user/SciBox/deliverables/pitch/assets/azamat-sq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40480" y="4800600"/>
            <a:ext cx="713232" cy="713232"/>
          </a:xfrm>
          <a:prstGeom prst="ellipse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40480" y="4800600"/>
            <a:ext cx="713232" cy="713232"/>
          </a:xfrm>
          <a:prstGeom prst="ellipse">
            <a:avLst/>
          </a:prstGeom>
          <a:ln w="15875">
            <a:solidFill>
              <a:srgbClr val="E4E1D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709160" y="48737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Азамат Сибгатуллин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платформы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Казань · 2026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21E4D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3667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ТРЕУГОЛЬНИК ЗНАНИЙ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366760" y="1463040"/>
            <a:ext cx="713232" cy="713232"/>
          </a:xfrm>
          <a:prstGeom prst="ellipse">
            <a:avLst/>
          </a:prstGeom>
          <a:solidFill>
            <a:srgbClr val="1E6B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66760" y="1463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9281160" y="1444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Инновации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928116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R&amp;D-компании, технопарки, проектная работа и трансфер технологий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366760" y="3035808"/>
            <a:ext cx="713232" cy="713232"/>
          </a:xfrm>
          <a:prstGeom prst="ellipse">
            <a:avLst/>
          </a:prstGeom>
          <a:solidFill>
            <a:srgbClr val="722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66760" y="30358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928116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Образование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9281160" y="349300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 вузов, аспирантура, магистратура, стажировки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366760" y="4608576"/>
            <a:ext cx="713232" cy="713232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66760" y="4608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9281160" y="4590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Наука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9281160" y="506577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должности, конкурсы, гранты, публикации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Сервисы поиска работы не говорят на языке науки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ECEE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75688"/>
            <a:ext cx="566928" cy="566928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17420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148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Учёный, преподаватель, аспирант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986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Обычное резюме не вмещает степень, звание, публикации, гранты и индексы цитирования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6301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Конкурсы и места в аспирантуре разбросаны по сайтам вузов и НИИ, сроки подачи легко пропустить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43616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сайты не ищут по научной специальности и степени, поэтому учёные почти не считают их рабочим инструментом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7EDEE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075688"/>
            <a:ext cx="566928" cy="566928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2217420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23760" y="2148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Вуз, НИИ, R&amp;D-компания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55624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28986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найти кандидата по специальности ВАК, степени, h-index и публикациям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55624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7223760" y="36301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Отклики, документы и рекомендательные письма приходят по почте и теряются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556248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7223760" y="43616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кафедр и лабораторий нет общего инструмента найма: каждая ищет людей сама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534924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121E4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68680" y="53492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учёные ищут работу через знакомых и сайты отдельных вузов, а организации теряют кандидатов, до которых не дотянулись.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команды в Казанском ГМУ; масштаб проблемы проверим 20 интервью в инкубаторе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Рынок большой, и он живёт конкурсами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6F4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339,1</a:t>
            </a:r>
            <a:pPr indent="0" marL="0">
              <a:buNone/>
            </a:pPr>
            <a:r>
              <a:rPr lang="en-US" sz="18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тыс.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исследователей в организациях науки (2024)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824" y="178308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6F4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65144" y="2011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217,0</a:t>
            </a:r>
            <a:pPr indent="0" marL="0">
              <a:buNone/>
            </a:pPr>
            <a:r>
              <a:rPr lang="en-US" sz="18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тыс.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7432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преподавателей вузов, ППС (2024/25)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178308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6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2011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125,9</a:t>
            </a:r>
            <a:pPr indent="0" marL="0">
              <a:buNone/>
            </a:pPr>
            <a:r>
              <a:rPr lang="en-US" sz="18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тыс.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7432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аспирантов (2024)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5191" y="178308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6F4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49511" y="2011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6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4,1</a:t>
            </a:r>
            <a:pPr indent="0" marL="0">
              <a:buNone/>
            </a:pPr>
            <a:r>
              <a:rPr lang="en-US" sz="1800" b="1" dirty="0">
                <a:solidFill>
                  <a:srgbClr val="1E6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тыс.+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74320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организаций ведут исследования и разработки, плюс 724 вуза (2023–2024)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4E1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4210812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89888" y="4078224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тыс. конкурсов в год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68172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научные должности: организации обязаны публиковать их на портале «ученые-исследователи.рф» (приказ Минобрнауки № 715). Оценка по номерам вакансий: № 133 014 в ноябре 2024 → № 148 045 в ноябре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38218" y="3840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4E1D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94250" y="4096512"/>
            <a:ext cx="457200" cy="457200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550" y="4210812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179466" y="4078224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43 % исследователей моложе 40 лет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594250" y="468172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поколение, которое привыкло искать работу и общаться с работодателем онлайн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127797" y="3840480"/>
            <a:ext cx="351525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4E1D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83829" y="4096512"/>
            <a:ext cx="457200" cy="457200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129" y="4210812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969045" y="4078224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2022–2031: Десятилетие науки и технологий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383829" y="468172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ставит задачу привлечь молодёжь в науку и закрыть кадровый дефицит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ИСИЭЗ НИУ ВШЭ, «Кадры крупных и средних организаций науки: итоги 2024 года» и «Позитивные тенденции в аспирантуре закрепляются» (2025); Росстат, Российский статистический ежегодник 2025; доклад Минобрнауки о высшем образовании (2023); Указ Президента РФ № 231 от 25.04.2022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ИОН соединяет науку, образование и инновации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 flipH="1">
            <a:off x="1440180" y="2400300"/>
            <a:ext cx="1714500" cy="2514600"/>
          </a:xfrm>
          <a:prstGeom prst="line">
            <a:avLst/>
          </a:prstGeom>
          <a:noFill/>
          <a:ln w="15875">
            <a:solidFill>
              <a:srgbClr val="85807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154680" y="2400300"/>
            <a:ext cx="1714500" cy="2514600"/>
          </a:xfrm>
          <a:prstGeom prst="line">
            <a:avLst/>
          </a:prstGeom>
          <a:noFill/>
          <a:ln w="15875">
            <a:solidFill>
              <a:srgbClr val="85807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40180" y="4914900"/>
            <a:ext cx="3429000" cy="9144"/>
          </a:xfrm>
          <a:prstGeom prst="line">
            <a:avLst/>
          </a:prstGeom>
          <a:noFill/>
          <a:ln w="15875">
            <a:solidFill>
              <a:srgbClr val="85807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583180" y="1828800"/>
            <a:ext cx="1143000" cy="1143000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318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1143000" cy="1143000"/>
          </a:xfrm>
          <a:prstGeom prst="ellipse">
            <a:avLst/>
          </a:prstGeom>
          <a:solidFill>
            <a:srgbClr val="722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3434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297680" y="4343400"/>
            <a:ext cx="1143000" cy="1143000"/>
          </a:xfrm>
          <a:prstGeom prst="ellipse">
            <a:avLst/>
          </a:prstGeom>
          <a:solidFill>
            <a:srgbClr val="1E6B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43434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8633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Наука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559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Образование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5559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Инновации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профиль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виды позиций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переписка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79415" cy="1234440"/>
          </a:xfrm>
          <a:prstGeom prst="roundRect">
            <a:avLst>
              <a:gd name="adj" fmla="val 5926"/>
            </a:avLst>
          </a:prstGeom>
          <a:solidFill>
            <a:srgbClr val="ECEE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892808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Наука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258568"/>
            <a:ext cx="4282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должности от лаборанта-исследователя до заведующего лабораторией, постдоки, конкурсы со сроками, гранты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35808"/>
            <a:ext cx="5379415" cy="1234440"/>
          </a:xfrm>
          <a:prstGeom prst="roundRect">
            <a:avLst>
              <a:gd name="adj" fmla="val 5926"/>
            </a:avLst>
          </a:prstGeom>
          <a:solidFill>
            <a:srgbClr val="F7ED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3264408"/>
            <a:ext cx="457200" cy="457200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36976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Образование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602736"/>
            <a:ext cx="4282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 и заведующие кафедрами, места в аспирантуре под тему и руководителя, магистратура, стажировки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379976"/>
            <a:ext cx="5379415" cy="1234440"/>
          </a:xfrm>
          <a:prstGeom prst="roundRect">
            <a:avLst>
              <a:gd name="adj" fmla="val 5926"/>
            </a:avLst>
          </a:prstGeom>
          <a:solidFill>
            <a:srgbClr val="E6F3E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608576"/>
            <a:ext cx="457200" cy="457200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581144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Инновации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946904"/>
            <a:ext cx="4282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R&amp;D-компании и технопарки: проектная работа по грантам и НИОКР, трансфер технологий, грант-менеджмент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5760720"/>
            <a:ext cx="5379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ищет вакансии и соискателей с учётом специфики научно-образовательной сферы: специальности ВАК, степени и звания, публикации, сроки конкурсов.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Один профиль вместо резюме, один кабинет на всю организацию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072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Соискатель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48840" y="178308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ECEEFA"/>
          </a:solidFill>
          <a:ln/>
        </p:spPr>
      </p:sp>
      <p:sp>
        <p:nvSpPr>
          <p:cNvPr id="9" name="Shape 6"/>
          <p:cNvSpPr/>
          <p:nvPr/>
        </p:nvSpPr>
        <p:spPr>
          <a:xfrm>
            <a:off x="2350008" y="1984248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500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62072" y="198424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350008" y="249631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Образование, степень, публикации по DOI с квартилем журнала, гранты, ORCID, SPIN, Scopus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686" y="178308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ECEE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3854" y="1984248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7385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85918" y="198424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подбор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73854" y="249631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специальности ВАК, степени, региону, условиям; подборка с объяснением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96532" y="178308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ECEEFA"/>
          </a:solidFill>
          <a:ln/>
        </p:spPr>
      </p:sp>
      <p:sp>
        <p:nvSpPr>
          <p:cNvPr id="19" name="Shape 16"/>
          <p:cNvSpPr/>
          <p:nvPr/>
        </p:nvSpPr>
        <p:spPr>
          <a:xfrm>
            <a:off x="7197700" y="1984248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977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09764" y="198424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197700" y="249631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Письмо, файлы, рекомендации по одноразовой ссылке; резюме PDF собирается само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420377" y="178308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ECEEFA"/>
          </a:solidFill>
          <a:ln/>
        </p:spPr>
      </p:sp>
      <p:sp>
        <p:nvSpPr>
          <p:cNvPr id="24" name="Shape 21"/>
          <p:cNvSpPr/>
          <p:nvPr/>
        </p:nvSpPr>
        <p:spPr>
          <a:xfrm>
            <a:off x="9621545" y="1984248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21545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133609" y="198424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621545" y="249631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 с организацией, статусы отклика, напоминания о сроках подачи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7482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48640" y="4818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2148840" y="379476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F7EDEE"/>
          </a:solidFill>
          <a:ln/>
        </p:spPr>
      </p:sp>
      <p:sp>
        <p:nvSpPr>
          <p:cNvPr id="32" name="Shape 28"/>
          <p:cNvSpPr/>
          <p:nvPr/>
        </p:nvSpPr>
        <p:spPr>
          <a:xfrm>
            <a:off x="2350008" y="3995928"/>
            <a:ext cx="384048" cy="384048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35000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2862072" y="399592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2350008" y="450799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Подразделения и роли: владелец, кадровик, руководитель лаборатории или кафедры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4572686" y="379476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F7EDEE"/>
          </a:solidFill>
          <a:ln/>
        </p:spPr>
      </p:sp>
      <p:sp>
        <p:nvSpPr>
          <p:cNvPr id="37" name="Shape 33"/>
          <p:cNvSpPr/>
          <p:nvPr/>
        </p:nvSpPr>
        <p:spPr>
          <a:xfrm>
            <a:off x="4773854" y="3995928"/>
            <a:ext cx="384048" cy="384048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773854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5285918" y="399592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Вакансия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4773854" y="450799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Научные условия: оборудование и ЦКП, оплата публикаций, конкурс и срок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6996532" y="379476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F7EDEE"/>
          </a:solidFill>
          <a:ln/>
        </p:spPr>
      </p:sp>
      <p:sp>
        <p:nvSpPr>
          <p:cNvPr id="42" name="Shape 38"/>
          <p:cNvSpPr/>
          <p:nvPr/>
        </p:nvSpPr>
        <p:spPr>
          <a:xfrm>
            <a:off x="7197700" y="3995928"/>
            <a:ext cx="384048" cy="384048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1977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7709764" y="399592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Отклики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7197700" y="450799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профиля, рекомендательные письма, выгрузка в таблицу, журнал действий</a:t>
            </a:r>
            <a:endParaRPr lang="en-US" sz="1250" dirty="0"/>
          </a:p>
        </p:txBody>
      </p:sp>
      <p:sp>
        <p:nvSpPr>
          <p:cNvPr id="46" name="Shape 42"/>
          <p:cNvSpPr/>
          <p:nvPr/>
        </p:nvSpPr>
        <p:spPr>
          <a:xfrm>
            <a:off x="9420377" y="3794760"/>
            <a:ext cx="2222678" cy="1783080"/>
          </a:xfrm>
          <a:prstGeom prst="roundRect">
            <a:avLst>
              <a:gd name="adj" fmla="val 4103"/>
            </a:avLst>
          </a:prstGeom>
          <a:solidFill>
            <a:srgbClr val="F7EDEE"/>
          </a:solidFill>
          <a:ln/>
        </p:spPr>
      </p:sp>
      <p:sp>
        <p:nvSpPr>
          <p:cNvPr id="47" name="Shape 43"/>
          <p:cNvSpPr/>
          <p:nvPr/>
        </p:nvSpPr>
        <p:spPr>
          <a:xfrm>
            <a:off x="9621545" y="3995928"/>
            <a:ext cx="384048" cy="384048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9621545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10133609" y="3995928"/>
            <a:ext cx="1353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людей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9621545" y="4507992"/>
            <a:ext cx="18386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учёных по специальности, степени, h-index; приглашение на вакансию</a:t>
            </a:r>
            <a:endParaRPr lang="en-US" sz="1250" dirty="0"/>
          </a:p>
        </p:txBody>
      </p:sp>
      <p:sp>
        <p:nvSpPr>
          <p:cNvPr id="51" name="Shape 47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F6F4F1"/>
          </a:solidFill>
          <a:ln/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916168"/>
            <a:ext cx="310896" cy="310896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1188720" y="5833872"/>
            <a:ext cx="10271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 решает соискатель: </a:t>
            </a:r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скрыт, анонимен, виден организациям или всем; можно скрыть его от своей организации.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Первая версия разработана и работает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3521354" cy="29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6" name="Image 0" descr="/home/user/SciBox/deliverables/pitch/assets/s-se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484778" cy="2958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79014"/>
            <a:ext cx="3484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вакансий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26486"/>
            <a:ext cx="3484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русская морфология, фильтры по области науки, виду позиции, уровню, формату работы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5170" y="1719072"/>
            <a:ext cx="3521354" cy="29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10" name="Image 1" descr="/home/user/SciBox/deliverables/pitch/assets/s-scientis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458" y="1737360"/>
            <a:ext cx="3484778" cy="29587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3458" y="4879014"/>
            <a:ext cx="3484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учёных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353458" y="5226486"/>
            <a:ext cx="3484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ищет по степени, званию, h-index, статьям в Q1–Q2 и приглашает на вакансию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9989" y="1719072"/>
            <a:ext cx="3521354" cy="29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14" name="Image 2" descr="/home/user/SciBox/deliverables/pitch/assets/s-candida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1737360"/>
            <a:ext cx="3484778" cy="29587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58277" y="4879014"/>
            <a:ext cx="3484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отклика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158277" y="5226486"/>
            <a:ext cx="3484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письмо, файлы, рекомендации, снимок профиля; принять, отказать или написать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Скриншоты работающего сайта. Организации и люди в демонстрационных данных вымышленные, города настоящие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Сайт говорит на языке науки: квартили, специальности, сроки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6025896" cy="361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6" name="Image 0" descr="/home/user/SciBox/deliverables/pitch/assets/s-pub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989320" cy="35769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78907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Публикации по DOI: журнал и квартиль подставляются сами по справочнику SCImago (32 тыс. журналов)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78447" y="1719072"/>
            <a:ext cx="1517904" cy="324232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9" name="Image 1" descr="/home/user/SciBox/deliverables/pitch/assets/phone-vacanci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737360"/>
            <a:ext cx="1481328" cy="320574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96735" y="505283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460943" y="1719072"/>
            <a:ext cx="1517904" cy="324232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12" name="Image 2" descr="/home/user/SciBox/deliverables/pitch/assets/phone-match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31" y="1737360"/>
            <a:ext cx="1481328" cy="320574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79231" y="505283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Подходящие вам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0143439" y="1719072"/>
            <a:ext cx="1517904" cy="324232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sx="100000" sy="100000" kx="0" ky="0" algn="bl" rotWithShape="0" blurRad="127000" dist="38100" dir="5400000">
              <a:srgbClr val="1F1D1A">
                <a:alpha val="12000"/>
              </a:srgbClr>
            </a:outerShdw>
          </a:effectLst>
        </p:spPr>
      </p:sp>
      <p:pic>
        <p:nvPicPr>
          <p:cNvPr id="15" name="Image 3" descr="/home/user/SciBox/deliverables/pitch/assets/phone-profi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27" y="1737360"/>
            <a:ext cx="1481328" cy="320574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161727" y="505283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35" y="53492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96735" y="567842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за 7 дней и за 1 день до срока подачи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231" y="534924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479231" y="567842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PDF из профиля одним нажатием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1727" y="5349240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161727" y="567842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телефоне так же удобно, как за компьютером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Общие сайты не знают науку, госпортал знает только конкурсы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234440"/>
                <a:gridCol w="1828800"/>
                <a:gridCol w="1828800"/>
                <a:gridCol w="18745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Возможность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hh.ru, SuperJob, «Работа России»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Портал «ученые-исследователи.рф»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Сайты вузов и каналы в мессенджерах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Научные должности, ППС, аспирантура, магистратура, стажировки, проекты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 по специальности ВАК, степени и званию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Научный профиль: публикации с квартилями, h-index, ORCID и SPIN, гранты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Рекомендательные письма через платформу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Сроки подачи и напоминания о них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учёных для работодателя и приглашение на вакансию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D5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Переписка соискателя и работодателя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58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есть   ◐ частично   — нет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023360" y="5321808"/>
            <a:ext cx="7619695" cy="731520"/>
          </a:xfrm>
          <a:prstGeom prst="roundRect">
            <a:avLst>
              <a:gd name="adj" fmla="val 10000"/>
            </a:avLst>
          </a:prstGeom>
          <a:solidFill>
            <a:srgbClr val="ECEE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24528" y="5321808"/>
            <a:ext cx="72173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Госпортал обязателен для научных конкурсов (приказ № 715), но в нём нет ППС, аспирантуры и R&amp;D-компаний. </a:t>
            </a:r>
            <a:pPr indent="0" marL="0">
              <a:buNone/>
            </a:pPr>
            <a:r>
              <a:rPr lang="en-US" sz="1200" b="1" dirty="0">
                <a:solidFill>
                  <a:srgbClr val="12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защита — сетевой эффект: </a:t>
            </a:r>
            <a:pPr indent="0" marL="0">
              <a:buNone/>
            </a:pPr>
            <a:r>
              <a:rPr lang="en-US" sz="1200" dirty="0">
                <a:solidFill>
                  <a:srgbClr val="12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профиль учёного делает каталог ценнее для организаций, и наоборот.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открытым данным на октябрь 2026 года; уточним на интервью с кадровыми службами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Начинаем с вузов: рынок организаций около 0,6 млрд ₽ в год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023360" cy="4023360"/>
          </a:xfrm>
          <a:prstGeom prst="ellipse">
            <a:avLst/>
          </a:prstGeom>
          <a:solidFill>
            <a:srgbClr val="ECEEFA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3392424"/>
            <a:ext cx="2414016" cy="2414016"/>
          </a:xfrm>
          <a:prstGeom prst="ellipse">
            <a:avLst/>
          </a:prstGeom>
          <a:solidFill>
            <a:srgbClr val="C9CFEA"/>
          </a:solidFill>
          <a:ln/>
        </p:spPr>
      </p:sp>
      <p:sp>
        <p:nvSpPr>
          <p:cNvPr id="7" name="Shape 5"/>
          <p:cNvSpPr/>
          <p:nvPr/>
        </p:nvSpPr>
        <p:spPr>
          <a:xfrm>
            <a:off x="2088490" y="4679899"/>
            <a:ext cx="1126541" cy="1126541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21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088490" y="4679899"/>
            <a:ext cx="1126541" cy="11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783080"/>
            <a:ext cx="5790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0,6 млрд ₽ в год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212848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тыс. организаций: 724 вуза, 524 филиала, 4,1 тыс. организаций, ведущих исследования (с учётом пересечений) × 120 тыс. ₽ в год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9535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953512"/>
            <a:ext cx="5790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150 млн ₽ в год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383280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вузы и филиалы, ≈ 1,25 тыс.: каждый год нанимают преподавателей и набирают в аспирантуру и магистратуру × 120 тыс. ₽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412394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123944"/>
            <a:ext cx="5790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5 млн ₽ в год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4553712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третьего года: 40 организаций (≈ 3 % SAM), начиная с Татарстана и Поволжья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4920" y="5321808"/>
            <a:ext cx="6568135" cy="713232"/>
          </a:xfrm>
          <a:prstGeom prst="roundRect">
            <a:avLst>
              <a:gd name="adj" fmla="val 10256"/>
            </a:avLst>
          </a:prstGeom>
          <a:solidFill>
            <a:srgbClr val="F6F4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0" y="5321808"/>
            <a:ext cx="6110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120 тыс. ₽ в год на организацию — гипотеза. </a:t>
            </a:r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Ориентир: средний чек hh.ru у малого и среднего бизнеса ≈ 36 тыс. ₽, у крупных клиентов ≈ 907 тыс. ₽ в год. Аудитория соискателей ≈ 680 тыс. человек.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ИСИЭЗ НИУ ВШЭ (2025), Минобрнауки (2023), МКПАО «Хэдхантер», отчётность за 2024 и 2025 годы (расчёт среднего чека МСБ: 20 млрд ₽ / 549 тыс. клиентов). Расчёт рынка — оценка команды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Платят организации, соискатели пользуются без оплаты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179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гипотезы заработка; в инкубаторе проверяем, какая из них работает первой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10048" cy="1536192"/>
          </a:xfrm>
          <a:prstGeom prst="roundRect">
            <a:avLst>
              <a:gd name="adj" fmla="val 4762"/>
            </a:avLst>
          </a:prstGeom>
          <a:solidFill>
            <a:srgbClr val="F6F4F1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267712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00300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249424"/>
            <a:ext cx="339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найма для вуза и НИИ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92928" y="2240280"/>
            <a:ext cx="310896" cy="310896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9292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08880" y="2240280"/>
            <a:ext cx="310896" cy="310896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088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63347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организацию: вакансии всех кафедр и лабораторий, роли, отклики, выгрузки, переписка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182112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от 10 тыс. ₽ в месяц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33008" y="2011680"/>
            <a:ext cx="5410048" cy="1536192"/>
          </a:xfrm>
          <a:prstGeom prst="roundRect">
            <a:avLst>
              <a:gd name="adj" fmla="val 4762"/>
            </a:avLst>
          </a:prstGeom>
          <a:solidFill>
            <a:srgbClr val="F6F4F1"/>
          </a:solidFill>
          <a:ln/>
        </p:spPr>
      </p:sp>
      <p:sp>
        <p:nvSpPr>
          <p:cNvPr id="17" name="Shape 14"/>
          <p:cNvSpPr/>
          <p:nvPr/>
        </p:nvSpPr>
        <p:spPr>
          <a:xfrm>
            <a:off x="6489040" y="2267712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2400300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93128" y="2249424"/>
            <a:ext cx="339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каталогу учёных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1277295" y="2240280"/>
            <a:ext cx="310896" cy="310896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1277295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193128" y="263347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специальности, степени, h-index и публикациям, приглашения на вакансию пакетами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193128" y="3182112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«доступ к базе» у hh.ru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3712464"/>
            <a:ext cx="5410048" cy="1536192"/>
          </a:xfrm>
          <a:prstGeom prst="roundRect">
            <a:avLst>
              <a:gd name="adj" fmla="val 4762"/>
            </a:avLst>
          </a:prstGeom>
          <a:solidFill>
            <a:srgbClr val="F6F4F1"/>
          </a:solidFill>
          <a:ln/>
        </p:spPr>
      </p:sp>
      <p:sp>
        <p:nvSpPr>
          <p:cNvPr id="25" name="Shape 21"/>
          <p:cNvSpPr/>
          <p:nvPr/>
        </p:nvSpPr>
        <p:spPr>
          <a:xfrm>
            <a:off x="804672" y="3968496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101084"/>
            <a:ext cx="265176" cy="26517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508760" y="3950208"/>
            <a:ext cx="339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программ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592928" y="3941064"/>
            <a:ext cx="310896" cy="310896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592928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508760" y="4334256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Аспирантура, магистратура и стажировки в приёмную кампанию: показ подходящим соискателям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1508760" y="488289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за кампанию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233008" y="3712464"/>
            <a:ext cx="5410048" cy="1536192"/>
          </a:xfrm>
          <a:prstGeom prst="roundRect">
            <a:avLst>
              <a:gd name="adj" fmla="val 4762"/>
            </a:avLst>
          </a:prstGeom>
          <a:solidFill>
            <a:srgbClr val="F6F4F1"/>
          </a:solidFill>
          <a:ln/>
        </p:spPr>
      </p:sp>
      <p:sp>
        <p:nvSpPr>
          <p:cNvPr id="33" name="Shape 28"/>
          <p:cNvSpPr/>
          <p:nvPr/>
        </p:nvSpPr>
        <p:spPr>
          <a:xfrm>
            <a:off x="6489040" y="3968496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628" y="4101084"/>
            <a:ext cx="265176" cy="26517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193128" y="3950208"/>
            <a:ext cx="339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под проект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277295" y="3941064"/>
            <a:ext cx="310896" cy="310896"/>
          </a:xfrm>
          <a:prstGeom prst="ellipse">
            <a:avLst/>
          </a:prstGeom>
          <a:solidFill>
            <a:srgbClr val="1E6B45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11277295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7193128" y="4334256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R&amp;D-компании и технопарки ищут исполнителей под грант или НИОКР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7193128" y="488289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разовая оплата за проект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48640" y="5468112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21E4D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22960" y="5468112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проверим: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 вузе решает и платит (кадровая служба, проректор по науке, заведующий лабораторией) и сколько. Цель юнит-экономики: привлечь организацию дешевле 40 тыс. ₽ при выручке от неё от 120 тыс. ₽ в год (LTV:CAC ≥ 3).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Технически продукт готов к первым пользователям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завершённых этапов разработки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90824" y="173736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98,4 %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90824" y="246888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 сервера покрыто автотестами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33008" y="173736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1 296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33008" y="246888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 интерфейса сайта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75191" y="173736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2C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75191" y="246888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 разобрано в модели безопасности, открытых нет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F6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502152"/>
            <a:ext cx="475488" cy="475488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621024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352044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142232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Рассчитан на всю науку России: 350 тыс. человек, 300 тыс. вакансий, пик 500 запросов в секунду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копий сервера, фоновые задачи отдельно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38218" y="324612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F6F4F1"/>
          </a:solidFill>
          <a:ln/>
        </p:spPr>
      </p:sp>
      <p:sp>
        <p:nvSpPr>
          <p:cNvPr id="19" name="Shape 16"/>
          <p:cNvSpPr/>
          <p:nvPr/>
        </p:nvSpPr>
        <p:spPr>
          <a:xfrm>
            <a:off x="4594250" y="3502152"/>
            <a:ext cx="475488" cy="475488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3621024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06898" y="352044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закон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612538" y="4142232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152-ФЗ: согласие на обработку данных, хостинг в России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файлов антивирусом, журнал действий, права проверены для каждой роли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27797" y="324612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F6F4F1"/>
          </a:solidFill>
          <a:ln/>
        </p:spPr>
      </p:sp>
      <p:sp>
        <p:nvSpPr>
          <p:cNvPr id="24" name="Shape 20"/>
          <p:cNvSpPr/>
          <p:nvPr/>
        </p:nvSpPr>
        <p:spPr>
          <a:xfrm>
            <a:off x="8383829" y="3502152"/>
            <a:ext cx="475488" cy="475488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362102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96477" y="352044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 науки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402117" y="4142232"/>
            <a:ext cx="3012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Специальности ВАК, 32 тыс. журналов SCImago с квартилями, 919 навыков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 русской морфологией и опечатками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до запуска: </a:t>
            </a:r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хостинг в России и почтовый сервис, ручная модерация организаций (спроектирована, ждёт решений по процессу).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Технологии: сервер Go, база PostgreSQL, сайт React; данные проекта на 20 октября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РЫНОК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Старт в Казани: через вузы и научные сообщества команды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33574" cy="2514600"/>
          </a:xfrm>
          <a:prstGeom prst="roundRect">
            <a:avLst>
              <a:gd name="adj" fmla="val 2909"/>
            </a:avLst>
          </a:prstGeom>
          <a:solidFill>
            <a:srgbClr val="F6F4F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39112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71700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26974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ноябрь–декабрь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971800"/>
            <a:ext cx="2076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Интервью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383280"/>
            <a:ext cx="20763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разговоров с кадровиками вузов, заведующими кафедрами и лабораториями, аспирантами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934" y="288036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02254" y="1783080"/>
            <a:ext cx="2533574" cy="2514600"/>
          </a:xfrm>
          <a:prstGeom prst="roundRect">
            <a:avLst>
              <a:gd name="adj" fmla="val 2909"/>
            </a:avLst>
          </a:prstGeom>
          <a:solidFill>
            <a:srgbClr val="F6F4F1"/>
          </a:solidFill>
          <a:ln/>
        </p:spPr>
      </p:sp>
      <p:sp>
        <p:nvSpPr>
          <p:cNvPr id="13" name="Shape 9"/>
          <p:cNvSpPr/>
          <p:nvPr/>
        </p:nvSpPr>
        <p:spPr>
          <a:xfrm>
            <a:off x="3658286" y="2039112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874" y="2171700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8286" y="26974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квартал 2027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658286" y="2971800"/>
            <a:ext cx="2076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Пилот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3658286" y="3383280"/>
            <a:ext cx="20763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организаций Казани публикуют вакансии и места в аспирантуре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548" y="2880360"/>
            <a:ext cx="228600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55868" y="1783080"/>
            <a:ext cx="2533574" cy="2514600"/>
          </a:xfrm>
          <a:prstGeom prst="roundRect">
            <a:avLst>
              <a:gd name="adj" fmla="val 2909"/>
            </a:avLst>
          </a:prstGeom>
          <a:solidFill>
            <a:srgbClr val="F6F4F1"/>
          </a:solidFill>
          <a:ln/>
        </p:spPr>
      </p:sp>
      <p:sp>
        <p:nvSpPr>
          <p:cNvPr id="20" name="Shape 14"/>
          <p:cNvSpPr/>
          <p:nvPr/>
        </p:nvSpPr>
        <p:spPr>
          <a:xfrm>
            <a:off x="6511900" y="2039112"/>
            <a:ext cx="530352" cy="53035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2171700"/>
            <a:ext cx="265176" cy="265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11900" y="26974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I–II квартал 2027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511900" y="2971800"/>
            <a:ext cx="2076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Наполнение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511900" y="3383280"/>
            <a:ext cx="20763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профилей учёных через советы молодых учёных, научные общества, конференции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5161" y="2880360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09481" y="1783080"/>
            <a:ext cx="2533574" cy="2514600"/>
          </a:xfrm>
          <a:prstGeom prst="roundRect">
            <a:avLst>
              <a:gd name="adj" fmla="val 2909"/>
            </a:avLst>
          </a:prstGeom>
          <a:solidFill>
            <a:srgbClr val="121E4D"/>
          </a:solidFill>
          <a:ln/>
        </p:spPr>
      </p:sp>
      <p:sp>
        <p:nvSpPr>
          <p:cNvPr id="27" name="Shape 19"/>
          <p:cNvSpPr/>
          <p:nvPr/>
        </p:nvSpPr>
        <p:spPr>
          <a:xfrm>
            <a:off x="9365513" y="2039112"/>
            <a:ext cx="530352" cy="530352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8101" y="2171700"/>
            <a:ext cx="265176" cy="26517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365513" y="26974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III–IV квартал 2027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9365513" y="2971800"/>
            <a:ext cx="20763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Первые оплаты</a:t>
            </a:r>
            <a:endParaRPr lang="en-US" sz="1900" dirty="0"/>
          </a:p>
        </p:txBody>
      </p:sp>
      <p:sp>
        <p:nvSpPr>
          <p:cNvPr id="31" name="Text 22"/>
          <p:cNvSpPr txBox="1"/>
          <p:nvPr/>
        </p:nvSpPr>
        <p:spPr>
          <a:xfrm>
            <a:off x="9365513" y="3383280"/>
            <a:ext cx="20763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организаций на подписке, подтверждённая цена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15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956048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60120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команды в КГМУ, Движении молодых учёных РТ и Физиологическом обществе им. И. П. Павлова</a:t>
            </a:r>
            <a:endParaRPr lang="en-US" sz="12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824" y="4956048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3802304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Конференции и школы молодых учёных, дни карьеры в вузах</a:t>
            </a:r>
            <a:endParaRPr lang="en-US" sz="1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3008" y="4956048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644488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каналы о науке, грантах и аспирантуре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5191" y="4956048"/>
            <a:ext cx="292608" cy="292608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486671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 и мероприятия ИТ-парка для R&amp;D-компаний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Двенадцать месяцев: от пилота к первым платежам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96975" y="2331720"/>
            <a:ext cx="9397746" cy="0"/>
          </a:xfrm>
          <a:prstGeom prst="line">
            <a:avLst/>
          </a:prstGeom>
          <a:noFill/>
          <a:ln w="31750">
            <a:solidFill>
              <a:srgbClr val="E4E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0671" y="2185416"/>
            <a:ext cx="292608" cy="292608"/>
          </a:xfrm>
          <a:prstGeom prst="ellipse">
            <a:avLst/>
          </a:prstGeom>
          <a:solidFill>
            <a:srgbClr val="722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7ED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Инкубатор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и трекер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формы юр. лица с учётом условий грантов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30220" y="2185416"/>
            <a:ext cx="292608" cy="292608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8189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8189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6F4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92781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92781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в России и почта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организаций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09769" y="2185416"/>
            <a:ext cx="292608" cy="292608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07738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кв. 2027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7738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6F4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72330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Пилот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72330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организаций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«Студенческий стартап» ФСИ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89318" y="2185416"/>
            <a:ext cx="292608" cy="292608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7288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кв. 2027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7288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6F4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1880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Рост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351880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профилей учёных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цены и кто платит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68867" y="2185416"/>
            <a:ext cx="292608" cy="292608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6837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кв. 2027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66837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6F4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31429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Монетизация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31429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платные подписки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аспирантуры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648417" y="2185416"/>
            <a:ext cx="292608" cy="292608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46386" y="175564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46386" y="2697480"/>
            <a:ext cx="1696669" cy="2377440"/>
          </a:xfrm>
          <a:prstGeom prst="roundRect">
            <a:avLst>
              <a:gd name="adj" fmla="val 4312"/>
            </a:avLst>
          </a:prstGeom>
          <a:solidFill>
            <a:srgbClr val="F6F4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10978" y="2852928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0110978" y="3310128"/>
            <a:ext cx="140406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платящих организаций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«Старт-1» ФСИ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«Студенческий стартап»: в 2026 году приём шёл с 9 февраля по 20 марта; условия очередей ФСИ сверяем по положению конкретного конкурса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Первый год укладывается в 1 млн 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179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бюджета для обсуждения с трекером; основная работа уже сделана силами команды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76072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млн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Хостинг в России, почта, хранилище файлов, антивирус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Разработка и поддержка: выплаты команде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Интервью и пилоты: поездки, конференции, материалы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Маркетинг: мероприятия, публикации, продвижение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Юридическое: оферта, политика данных, регистрация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за 12 месяцев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6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20840" y="210312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финансирования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0" y="2606040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20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578608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Резидентство ИТ-парка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2871216"/>
            <a:ext cx="4373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Офис, бухгалтерия, юрист, сервер, трекинг: 3 000 ₽ в месяц или без оплаты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3447288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3419856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«Студенческий стартап» ФСИ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3712464"/>
            <a:ext cx="4373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млн ₽ на 12 месяцев без софинансирования; в 2026 году 12,6 тыс. заявок и 2,2 тыс. победителей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20840" y="4288536"/>
            <a:ext cx="384048" cy="384048"/>
          </a:xfrm>
          <a:prstGeom prst="ellipse">
            <a:avLst/>
          </a:prstGeom>
          <a:solidFill>
            <a:srgbClr val="1C2C6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72084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4261104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«Старт-1» ФСИ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4553712"/>
            <a:ext cx="4373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млн ₽ на год без софинансирования для компании младше двух лет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20840" y="5129784"/>
            <a:ext cx="384048" cy="384048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208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5102352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Подписки организаций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5394960"/>
            <a:ext cx="4373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III квартала 2027 года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страница Бизнес-инкубатора ИТ-парка (itpark.tech); Фонд содействия инновациям, условия конкурсов «Студенческий стартап» и «Старт» 2026 года (fasie.ru)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Наука и разработка в одной команде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4315968"/>
          </a:xfrm>
          <a:prstGeom prst="roundRect">
            <a:avLst>
              <a:gd name="adj" fmla="val 1695"/>
            </a:avLst>
          </a:prstGeom>
          <a:solidFill>
            <a:srgbClr val="F6F4F1"/>
          </a:solidFill>
          <a:ln/>
        </p:spPr>
      </p:sp>
      <p:pic>
        <p:nvPicPr>
          <p:cNvPr id="6" name="Image 0" descr="/home/user/SciBox/deliverables/pitch/assets/mara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965960"/>
            <a:ext cx="1600200" cy="1965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1760" y="2011680"/>
            <a:ext cx="3055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Мухамедьяров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Марат Александрович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2926080"/>
            <a:ext cx="3055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 НАУКИ И ОБРАЗОВАНИЯ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87368"/>
            <a:ext cx="48842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Доктор медицинских наук, профессор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Заведующий кафедрой нормальной физиологии и директор Института нейронаук Казанского ГМУ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 ВШЭ «Управление в высшем образовании»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350 научных трудов, h-index 18 (Scopus), лауреат премии им. В. Зворыкина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Председатель Татарстанского отделения Физиологического общества им. И. П. Павлова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5868" y="1691640"/>
            <a:ext cx="5387188" cy="4315968"/>
          </a:xfrm>
          <a:prstGeom prst="roundRect">
            <a:avLst>
              <a:gd name="adj" fmla="val 1695"/>
            </a:avLst>
          </a:prstGeom>
          <a:solidFill>
            <a:srgbClr val="F6F4F1"/>
          </a:solidFill>
          <a:ln/>
        </p:spPr>
      </p:sp>
      <p:pic>
        <p:nvPicPr>
          <p:cNvPr id="11" name="Image 1" descr="/home/user/SciBox/deliverables/pitch/assets/azam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0188" y="1965960"/>
            <a:ext cx="1600200" cy="1965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58988" y="2011680"/>
            <a:ext cx="30554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Сибгатуллин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Азамат Ильдарович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358988" y="2926080"/>
            <a:ext cx="3055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30188" y="4087368"/>
            <a:ext cx="48842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Спроектировал и написал всю платформу: сервер на Go, сайт на React, базу данных, безопасность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Довёл продукт до готовности к запуску: 40 этапов, тесты, аудит безопасности, нагрузочные проверки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Казанского ГМУ: сам из целевой аудитории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2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Ищем в инкубаторе: </a:t>
            </a:r>
            <a:pPr indent="0" marL="0">
              <a:buNone/>
            </a:pPr>
            <a:r>
              <a:rPr lang="en-US" sz="125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специалиста по продажам и маркетингу для работы с вузами и R&amp;D-компаниями.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773936" cy="256032"/>
          </a:xfrm>
          <a:prstGeom prst="roundRect">
            <a:avLst>
              <a:gd name="adj" fmla="val 50000"/>
            </a:avLst>
          </a:prstGeom>
          <a:solidFill>
            <a:srgbClr val="EC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1C2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ИНКУБАТОРУ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нам нужно от ИТ-парка и что покажем через полгода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22576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21284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по Customer Development: найти модель заработка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28346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вузы, НИИ и R&amp;D-компании Татарстана для пилотов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56432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6616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345643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развития и выбор источника финансирования: гранты, инвесторы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078224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879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70432" y="407822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и продвижение в научном и ИТ-сообществе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4700016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09744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70432" y="470001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Юридическое и бухгалтерское сопровождение, выбор формы юр. лица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48640" y="5321808"/>
            <a:ext cx="438912" cy="438912"/>
          </a:xfrm>
          <a:prstGeom prst="ellipse">
            <a:avLst/>
          </a:prstGeom>
          <a:solidFill>
            <a:srgbClr val="1C2C66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431536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70432" y="53218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места и сервер для пилота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7086600" y="1737360"/>
            <a:ext cx="4556455" cy="4297680"/>
          </a:xfrm>
          <a:prstGeom prst="roundRect">
            <a:avLst>
              <a:gd name="adj" fmla="val 1702"/>
            </a:avLst>
          </a:prstGeom>
          <a:solidFill>
            <a:srgbClr val="121E4D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7452360" y="1965960"/>
            <a:ext cx="3824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Через 6 месяцев покажем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745236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9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20+</a:t>
            </a:r>
            <a:endParaRPr lang="en-US" sz="2800" dirty="0"/>
          </a:p>
        </p:txBody>
      </p:sp>
      <p:sp>
        <p:nvSpPr>
          <p:cNvPr id="27" name="Text 19"/>
          <p:cNvSpPr txBox="1"/>
          <p:nvPr/>
        </p:nvSpPr>
        <p:spPr>
          <a:xfrm>
            <a:off x="8732520" y="260604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 с организациями и соискателями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7452360" y="3429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9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3–5</a:t>
            </a:r>
            <a:endParaRPr lang="en-US" sz="2800" dirty="0"/>
          </a:p>
        </p:txBody>
      </p:sp>
      <p:sp>
        <p:nvSpPr>
          <p:cNvPr id="29" name="Text 21"/>
          <p:cNvSpPr txBox="1"/>
          <p:nvPr/>
        </p:nvSpPr>
        <p:spPr>
          <a:xfrm>
            <a:off x="8732520" y="342900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пилотных организаций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7452360" y="4251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9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300+</a:t>
            </a:r>
            <a:endParaRPr lang="en-US" sz="2800" dirty="0"/>
          </a:p>
        </p:txBody>
      </p:sp>
      <p:sp>
        <p:nvSpPr>
          <p:cNvPr id="31" name="Text 23"/>
          <p:cNvSpPr txBox="1"/>
          <p:nvPr/>
        </p:nvSpPr>
        <p:spPr>
          <a:xfrm>
            <a:off x="8732520" y="425196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профилей учёных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7452360" y="5074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9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800" dirty="0"/>
          </a:p>
        </p:txBody>
      </p:sp>
      <p:sp>
        <p:nvSpPr>
          <p:cNvPr id="33" name="Text 25"/>
          <p:cNvSpPr txBox="1"/>
          <p:nvPr/>
        </p:nvSpPr>
        <p:spPr>
          <a:xfrm>
            <a:off x="8732520" y="5074920"/>
            <a:ext cx="2544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подтверждённая модель оплаты и заявка на грант ФСИ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И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2219599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488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Помогаем учёным, преподавателям и инноваторам найти своё место, а вузам, НИИ и компаниям — своих людей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1E6B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Инновации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3240" y="4023360"/>
            <a:ext cx="502920" cy="502920"/>
          </a:xfrm>
          <a:prstGeom prst="ellipse">
            <a:avLst/>
          </a:prstGeom>
          <a:solidFill>
            <a:srgbClr val="722F3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63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7033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77840" y="4023360"/>
            <a:ext cx="502920" cy="502920"/>
          </a:xfrm>
          <a:prstGeom prst="ellipse">
            <a:avLst/>
          </a:prstGeom>
          <a:solidFill>
            <a:srgbClr val="1C2C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Готовы ответить на вопросы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Марат Мухамедьяров · Азамат Сибгатуллин · Казань, 2026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2578608" cy="256032"/>
          </a:xfrm>
          <a:prstGeom prst="roundRect">
            <a:avLst>
              <a:gd name="adj" fmla="val 50000"/>
            </a:avLst>
          </a:prstGeom>
          <a:solidFill>
            <a:srgbClr val="ECE9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· ВОПРОСЫ ЭКСПЕРТОВ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Главные риски и как мы их снимаем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вакансий — нет соискателей, и наоборот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Начинаем с организаций через сеть команды: конкурсы и набор в аспирантуру вузы проводят в любом случае, ИОН — дополнительный канал без лишней работы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Вузы платят медленно и мало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Проверяем, кто платит и как удобно оплатить; первые пилоты без оплаты; запасные модели: продвижение аспирантуры и проекты R&amp;D-компаний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Учёные не придут на ещё один сайт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 полезен сам по себе: резюме PDF, квартили журналов, подборка вакансий и напоминания о сроках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Фальшивые организации и спам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Ручная модерация организаций спроектирована; уже есть ограничения частоты, жалобы в переписке, журнал действий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данные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8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152-ФЗ: согласие при регистрации, хостинг в России, видимость профиля выбирает человек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2066544" cy="256032"/>
          </a:xfrm>
          <a:prstGeom prst="roundRect">
            <a:avLst>
              <a:gd name="adj" fmla="val 50000"/>
            </a:avLst>
          </a:prstGeom>
          <a:solidFill>
            <a:srgbClr val="ECE9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· ТЕХНОЛОГИИ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рассчитана на всю науку России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6F4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Браузер, телефон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сайт для компьютера и телефона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514600"/>
            <a:ext cx="365760" cy="0"/>
          </a:xfrm>
          <a:prstGeom prst="line">
            <a:avLst/>
          </a:prstGeom>
          <a:noFill/>
          <a:ln w="19050">
            <a:solidFill>
              <a:srgbClr val="8580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19202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6F4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260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TypeScript; тексты готовы к переводу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365760" cy="0"/>
          </a:xfrm>
          <a:prstGeom prst="line">
            <a:avLst/>
          </a:prstGeom>
          <a:noFill/>
          <a:ln w="19050">
            <a:solidFill>
              <a:srgbClr val="8580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0" y="19202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21E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несколько копий; без состояния в памяти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86600" y="2514600"/>
            <a:ext cx="365760" cy="0"/>
          </a:xfrm>
          <a:prstGeom prst="line">
            <a:avLst/>
          </a:prstGeom>
          <a:noFill/>
          <a:ln w="19050">
            <a:solidFill>
              <a:srgbClr val="8580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9202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6F4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источник правды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0" y="34290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12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Воркер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письма, подбор, напоминания, уборка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34290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26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S3 и антивирус ClamAV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0" y="34290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6F4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809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886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GlitchTip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1920240"/>
            <a:ext cx="2087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2286000"/>
            <a:ext cx="20875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argon2id, ссылки из писем одноразовые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частоты запросов общее для всех копий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пара «роль × действие» проверена тестом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Линтер, govulncheck, semgrep, OWASP ZAP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892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нагрузки: 350 тыс. человек, 10 тыс. организаций, 300 тыс. вакансий, 1 млн откликов, ответ на поиск за 200 мс в 95 % случаев.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5332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5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docs/ARCHITECTURE.md, docs/SCALING.md, docs/SECURITY.md в репозитории проекта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0624"/>
            <a:ext cx="1993392" cy="256032"/>
          </a:xfrm>
          <a:prstGeom prst="roundRect">
            <a:avLst>
              <a:gd name="adj" fmla="val 50000"/>
            </a:avLst>
          </a:prstGeom>
          <a:solidFill>
            <a:srgbClr val="ECE9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5D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· ИСТОЧНИКИ</a:t>
            </a:r>
            <a:endParaRPr lang="en-US" sz="9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8638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D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Источники цифр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ИСИЭЗ НИУ ВШЭ. Кадры крупных и средних организаций науки: итоги 2024 года (2025). issek.hse.ru/news/1096744741.html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ИСИЭЗ НИУ ВШЭ. Позитивные тенденции в аспирантуре закрепляются (2025). issek.hse.ru/news/1061520670.html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ИСИЭЗ НИУ ВШЭ. Индикаторы науки: 2026; число организаций, выполнявших исследования и разработки, в 2024 году — более 4,1 тыс.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Росстат. Российский статистический ежегодник 2025: численность профессорско-преподавательского персонала, 2024/2025 учебный год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Минобрнауки России. Доклад о состоянии системы высшего образования, 2023: 724 организации и 524 филиала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Минобрнауки России от 05.08.2021 № 715: конкурсы на замещение должностей научных работников, портал ученые-исследователи.рф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 Президента РФ от 25.04.2022 № 231 «Об объявлении в Российской Федерации Десятилетия науки и технологий»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МКПАО «Хэдхантер»: финансовые результаты за 2024 и 2025 годы (выручка, клиенты, средний чек крупных клиентов)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 содействия инновациям: «Студенческий стартап» 2026 (1 млн ₽), «Старт-1» (до 5 млн ₽). fasie.ru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8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ИТ-парк, Казань: осенний отбор стартапов 2026, страница Бизнес-инкубатора. itpark.tech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58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ИОН">
  <a:themeElements>
    <a:clrScheme name="ИОН">
      <a:dk1>
        <a:srgbClr val="1F1D1A"/>
      </a:dk1>
      <a:lt1>
        <a:srgbClr val="FFFFFF"/>
      </a:lt1>
      <a:dk2>
        <a:srgbClr val="121E4D"/>
      </a:dk2>
      <a:lt2>
        <a:srgbClr val="F6F4F1"/>
      </a:lt2>
      <a:accent1>
        <a:srgbClr val="1C2C66"/>
      </a:accent1>
      <a:accent2>
        <a:srgbClr val="722F37"/>
      </a:accent2>
      <a:accent3>
        <a:srgbClr val="1E6B45"/>
      </a:accent3>
      <a:accent4>
        <a:srgbClr val="85807A"/>
      </a:accent4>
      <a:accent5>
        <a:srgbClr val="3B4E9E"/>
      </a:accent5>
      <a:accent6>
        <a:srgbClr val="B9848A"/>
      </a:accent6>
      <a:hlink>
        <a:srgbClr val="1C2C66"/>
      </a:hlink>
      <a:folHlink>
        <a:srgbClr val="722F37"/>
      </a:folHlink>
    </a:clrScheme>
    <a:fontScheme name="ИОН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ИОН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ИОН — Инновации, образование, наука</dc:title>
  <dc:subject>Заявка в Бизнес-инкубатор ИТ-парка, осенний отбор 2026</dc:subject>
  <dc:creator>Команда ИОН: М. А. Мухамедьяров, А. И. Сибгатуллин</dc:creator>
  <cp:lastModifiedBy>Команда ИОН: М. А. Мухамедьяров, А. И. Сибгатуллин</cp:lastModifiedBy>
  <cp:revision>1</cp:revision>
  <dcterms:created xsi:type="dcterms:W3CDTF">2026-10-20T17:06:41Z</dcterms:created>
  <dcterms:modified xsi:type="dcterms:W3CDTF">2026-10-20T17:06:41Z</dcterms:modified>
</cp:coreProperties>
</file>